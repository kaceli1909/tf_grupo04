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a50920da-df00-4e0c-8a9f-fdd8217e9120}">
          <p14:sldIdLst>
            <p14:sldId id="256"/>
          </p14:sldIdLst>
        </p14:section>
        <p14:section name="Problema" id="{9a783ee9-f73d-a4a8-68dc-eb29b4347255}">
          <p14:sldIdLst>
            <p14:sldId id="257"/>
          </p14:sldIdLst>
        </p14:section>
        <p14:section name="Datos" id="{5f9684ba-74b6-67b0-65e5-89d887dbb7f9}">
          <p14:sldIdLst>
            <p14:sldId id="258"/>
          </p14:sldIdLst>
        </p14:section>
        <p14:section name="Metodología" id="{f88a58a9-a9d3-d7b2-510c-19d6d00082ae}">
          <p14:sldIdLst>
            <p14:sldId id="259"/>
          </p14:sldIdLst>
        </p14:section>
        <p14:section name="Marco PCS" id="{892e7cdc-d2e9-9fd5-58c0-b0ea5b34740f}">
          <p14:sldIdLst>
            <p14:sldId id="260"/>
          </p14:sldIdLst>
        </p14:section>
        <p14:section name="Cierre" id="{2fc24de3-1e2d-438e-9f7a-7f5de8d48d81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[Expone: Jhon] (10 s) Buenas noches, somos el grupo 4. Nuestro proyecto busca evaluar rápidamente el daño en edificaciones después de un sismo usando imágenes satelitales.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[Expone: Jhon] (50 s) Hoy la evaluación de daños post-sismo depende de inspecciones de campo, lentas y riesgosas. En Lima, un sismo mayor dejaría miles de edificaciones por evaluar a la vez. Queremos saber si las imágenes satelitales permiten priorizar esa inspección.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[Expone: Kevin] (45 s) Cada edificio del dataset lo convertimos en una fila con 16 datos. Primero, de dónde viene: qué imagen, qué desastre y un código único. Segundo, lo que queremos predecir: su nivel de daño, de 0 a 3. Tercero, su tamaño y ubicación dentro de la imagen. Y cuarto, cómo se tomó la foto: la resolución, la inclinación del satélite y la posición del sol. Este último grupo importa porque una foto inclinada o con sombras largas puede confundir al modelo; eso lo revisaremos en el análisis de estabilidad.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[Expone: Katherine] (50 s) El proyecto avanza en seis pasos. En esta primera entrega cubrimos descarga, extracción de etiquetas y exploración inicial. Después vienen el modelo base, la validación con el marco PCS y la comunicación de resultados. Para los datos usamos el sismo de Ciudad de México de 2017, una ciudad latinoamericana densa, y el sismo con tsunami de Palu, que es el escenario que se plantea para Callao. Debajo de cada paso está la carpeta del repositorio en GitHub donde se trabaja.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[Expone: Jairo] (55 s) Para que los resultados sean creíbles usamos los principios PCS. Predictibilidad: el modelo debe funcionar en un sismo que no vio. Computabilidad: todo debe poder correrse de nuevo con recursos gratuitos. Estabilidad: las conclusiones no deben cambiar ante decisiones razonables, como fusionar clases o considerar etiquetas con errores.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[Expone: Jairo] (25 s) Al terminar el proyecto tendremos tres productos: una tabla de datos documentada, un modelo de triaje de daño y una evaluación honesta de su confiabilidad. La idea es que sirva como apoyo para priorizar inspecciones después de un sismo en Lima.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5156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TF_Grupo04 · Daño estructural post-sismo (xBD)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rtada_circulo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3" name="portada_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571500"/>
            <a:ext cx="320040" cy="3200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0515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Evaluación rápida de daño estructural post-sismo con imágenes satelitales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TF_Grupo04 · Dataset xBD / xView2</a:t>
            </a:r>
            <a:endParaRPr lang="en-US" sz="1600" dirty="0"/>
          </a:p>
        </p:txBody>
      </p:sp>
      <p:sp>
        <p:nvSpPr>
          <p:cNvPr id="6" name="curso"/>
          <p:cNvSpPr txBox="1"/>
          <p:nvPr/>
        </p:nvSpPr>
        <p:spPr>
          <a:xfrm>
            <a:off x="548640" y="3429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D4DA"/>
                </a:solidFill>
              </a:rPr>
              <a:t>Curso: Aplicaciones de IA en Estructuras · Docente: Kurt Walter Soncco Sinchi</a:t>
            </a:r>
            <a:endParaRPr lang="en-US" sz="1200" dirty="0"/>
          </a:p>
        </p:txBody>
      </p:sp>
      <p:sp>
        <p:nvSpPr>
          <p:cNvPr id="7" name="integrante0"/>
          <p:cNvSpPr txBox="1"/>
          <p:nvPr/>
        </p:nvSpPr>
        <p:spPr>
          <a:xfrm>
            <a:off x="54864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Jhon Héctor Aire Artezano</a:t>
            </a:r>
            <a:endParaRPr lang="en-US" sz="1400" dirty="0"/>
          </a:p>
        </p:txBody>
      </p:sp>
      <p:sp>
        <p:nvSpPr>
          <p:cNvPr id="8" name="integrante1"/>
          <p:cNvSpPr txBox="1"/>
          <p:nvPr/>
        </p:nvSpPr>
        <p:spPr>
          <a:xfrm>
            <a:off x="457200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Kevin Flores Paniura</a:t>
            </a:r>
            <a:endParaRPr lang="en-US" sz="1400" dirty="0"/>
          </a:p>
        </p:txBody>
      </p:sp>
      <p:sp>
        <p:nvSpPr>
          <p:cNvPr id="9" name="integrante2"/>
          <p:cNvSpPr txBox="1"/>
          <p:nvPr/>
        </p:nvSpPr>
        <p:spPr>
          <a:xfrm>
            <a:off x="548640" y="4279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Katherine Limaymanta Caballero</a:t>
            </a:r>
            <a:endParaRPr lang="en-US" sz="1400" dirty="0"/>
          </a:p>
        </p:txBody>
      </p:sp>
      <p:sp>
        <p:nvSpPr>
          <p:cNvPr id="10" name="integrante3"/>
          <p:cNvSpPr txBox="1"/>
          <p:nvPr/>
        </p:nvSpPr>
        <p:spPr>
          <a:xfrm>
            <a:off x="4572000" y="4279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Jairo Paredes Mercado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problema: tras un sismo, evaluar daños tarda</a:t>
            </a:r>
            <a:endParaRPr lang="en-US" sz="2800" dirty="0"/>
          </a:p>
        </p:txBody>
      </p:sp>
      <p:sp>
        <p:nvSpPr>
          <p:cNvPr id="3" name="prob0_circulo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4" name="prob0_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394460"/>
            <a:ext cx="320040" cy="320040"/>
          </a:xfrm>
          <a:prstGeom prst="rect">
            <a:avLst/>
          </a:prstGeom>
        </p:spPr>
      </p:pic>
      <p:sp>
        <p:nvSpPr>
          <p:cNvPr id="5" name="prob0_texto"/>
          <p:cNvSpPr txBox="1"/>
          <p:nvPr/>
        </p:nvSpPr>
        <p:spPr>
          <a:xfrm>
            <a:off x="1280160" y="1143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F36"/>
                </a:solidFill>
              </a:rPr>
              <a:t>Inspección presencial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Edificación por edificación, con riesgo para los inspectores.</a:t>
            </a:r>
            <a:endParaRPr lang="en-US" sz="1600" dirty="0"/>
          </a:p>
        </p:txBody>
      </p:sp>
      <p:sp>
        <p:nvSpPr>
          <p:cNvPr id="6" name="prob1_circulo"/>
          <p:cNvSpPr/>
          <p:nvPr/>
        </p:nvSpPr>
        <p:spPr>
          <a:xfrm>
            <a:off x="457200" y="2331720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7" name="prob1_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491740"/>
            <a:ext cx="320040" cy="320040"/>
          </a:xfrm>
          <a:prstGeom prst="rect">
            <a:avLst/>
          </a:prstGeom>
        </p:spPr>
      </p:pic>
      <p:sp>
        <p:nvSpPr>
          <p:cNvPr id="8" name="prob1_texto"/>
          <p:cNvSpPr txBox="1"/>
          <p:nvPr/>
        </p:nvSpPr>
        <p:spPr>
          <a:xfrm>
            <a:off x="1280160" y="2240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F36"/>
                </a:solidFill>
              </a:rPr>
              <a:t>Ventana crítica de 24–48 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Rescate y evacuación no pueden esperar.</a:t>
            </a:r>
            <a:endParaRPr lang="en-US" sz="1600" dirty="0"/>
          </a:p>
        </p:txBody>
      </p:sp>
      <p:sp>
        <p:nvSpPr>
          <p:cNvPr id="9" name="prob2_circulo"/>
          <p:cNvSpPr/>
          <p:nvPr/>
        </p:nvSpPr>
        <p:spPr>
          <a:xfrm>
            <a:off x="457200" y="3429000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10" name="prob2_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589020"/>
            <a:ext cx="320040" cy="320040"/>
          </a:xfrm>
          <a:prstGeom prst="rect">
            <a:avLst/>
          </a:prstGeom>
        </p:spPr>
      </p:pic>
      <p:sp>
        <p:nvSpPr>
          <p:cNvPr id="11" name="prob2_texto"/>
          <p:cNvSpPr txBox="1"/>
          <p:nvPr/>
        </p:nvSpPr>
        <p:spPr>
          <a:xfrm>
            <a:off x="1280160" y="3337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F36"/>
                </a:solidFill>
              </a:rPr>
              <a:t>Lima: miles de casos a la vez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Alta sismicidad y mucha vivienda autoconstruida.</a:t>
            </a:r>
            <a:endParaRPr lang="en-US" sz="1600" dirty="0"/>
          </a:p>
        </p:txBody>
      </p:sp>
      <p:sp>
        <p:nvSpPr>
          <p:cNvPr id="12" name="pregunta_tarjeta"/>
          <p:cNvSpPr/>
          <p:nvPr/>
        </p:nvSpPr>
        <p:spPr>
          <a:xfrm>
            <a:off x="5303520" y="1188720"/>
            <a:ext cx="338328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/>
        </p:spPr>
      </p:sp>
      <p:sp>
        <p:nvSpPr>
          <p:cNvPr id="13" name="pregunta_texto"/>
          <p:cNvSpPr txBox="1"/>
          <p:nvPr/>
        </p:nvSpPr>
        <p:spPr>
          <a:xfrm>
            <a:off x="5577840" y="141732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spc="200" kern="0" dirty="0">
                <a:solidFill>
                  <a:srgbClr val="F59F00"/>
                </a:solidFill>
              </a:rPr>
              <a:t>PREGUNTA DE INVESTIGACIÓN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¿Podemos clasificar el nivel de daño de cada edificación con imágenes satelitales pre y post evento, como triaje antes de la inspección de campo?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Los datos: una fila por edificio</a:t>
            </a:r>
            <a:endParaRPr lang="en-US" sz="2800" dirty="0"/>
          </a:p>
        </p:txBody>
      </p:sp>
      <p:sp>
        <p:nvSpPr>
          <p:cNvPr id="3" name="resumen_datos"/>
          <p:cNvSpPr/>
          <p:nvPr/>
        </p:nvSpPr>
        <p:spPr>
          <a:xfrm>
            <a:off x="457200" y="1143000"/>
            <a:ext cx="2103120" cy="3383280"/>
          </a:xfrm>
          <a:prstGeom prst="roundRect">
            <a:avLst>
              <a:gd name="adj" fmla="val 4348"/>
            </a:avLst>
          </a:prstGeom>
          <a:solidFill>
            <a:srgbClr val="F1F3F5"/>
          </a:solidFill>
          <a:ln/>
        </p:spPr>
      </p:sp>
      <p:sp>
        <p:nvSpPr>
          <p:cNvPr id="4" name="resumen_datos_texto"/>
          <p:cNvSpPr txBox="1"/>
          <p:nvPr/>
        </p:nvSpPr>
        <p:spPr>
          <a:xfrm>
            <a:off x="685800" y="1325880"/>
            <a:ext cx="1691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5400" b="1" dirty="0">
                <a:solidFill>
                  <a:srgbClr val="E859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B2F36"/>
                </a:solidFill>
              </a:rPr>
              <a:t>datos por cada edificio</a:t>
            </a:r>
            <a:endParaRPr lang="en-US" sz="5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C677D"/>
                </a:solidFill>
              </a:rPr>
              <a:t>Su ubicación, tamaño, las condiciones de la imagen y su nivel de daño.</a:t>
            </a:r>
            <a:endParaRPr lang="en-US" sz="5400" dirty="0"/>
          </a:p>
        </p:txBody>
      </p:sp>
      <p:sp>
        <p:nvSpPr>
          <p:cNvPr id="5" name="grupo0"/>
          <p:cNvSpPr/>
          <p:nvPr/>
        </p:nvSpPr>
        <p:spPr>
          <a:xfrm>
            <a:off x="2743200" y="1143000"/>
            <a:ext cx="2926080" cy="1618488"/>
          </a:xfrm>
          <a:prstGeom prst="roundRect">
            <a:avLst>
              <a:gd name="adj" fmla="val 5650"/>
            </a:avLst>
          </a:prstGeom>
          <a:solidFill>
            <a:srgbClr val="F1F3F5"/>
          </a:solidFill>
          <a:ln/>
        </p:spPr>
      </p:sp>
      <p:sp>
        <p:nvSpPr>
          <p:cNvPr id="6" name="grupo0_punto"/>
          <p:cNvSpPr/>
          <p:nvPr/>
        </p:nvSpPr>
        <p:spPr>
          <a:xfrm>
            <a:off x="2944368" y="1325880"/>
            <a:ext cx="164592" cy="164592"/>
          </a:xfrm>
          <a:prstGeom prst="ellipse">
            <a:avLst/>
          </a:prstGeom>
          <a:solidFill>
            <a:srgbClr val="5C677D"/>
          </a:solidFill>
          <a:ln/>
        </p:spPr>
      </p:sp>
      <p:sp>
        <p:nvSpPr>
          <p:cNvPr id="7" name="grupo0_titulo"/>
          <p:cNvSpPr txBox="1"/>
          <p:nvPr/>
        </p:nvSpPr>
        <p:spPr>
          <a:xfrm>
            <a:off x="3218688" y="12344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</a:rPr>
              <a:t>¿De dónde viene?</a:t>
            </a:r>
            <a:endParaRPr lang="en-US" sz="1500" dirty="0"/>
          </a:p>
        </p:txBody>
      </p:sp>
      <p:sp>
        <p:nvSpPr>
          <p:cNvPr id="8" name="grupo0_var0"/>
          <p:cNvSpPr txBox="1"/>
          <p:nvPr/>
        </p:nvSpPr>
        <p:spPr>
          <a:xfrm>
            <a:off x="2944368" y="16550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</a:rPr>
              <a:t>Grupo de datos</a:t>
            </a:r>
            <a:endParaRPr lang="en-US" sz="1100" dirty="0"/>
          </a:p>
        </p:txBody>
      </p:sp>
      <p:sp>
        <p:nvSpPr>
          <p:cNvPr id="9" name="grupo0_cod0"/>
          <p:cNvSpPr txBox="1"/>
          <p:nvPr/>
        </p:nvSpPr>
        <p:spPr>
          <a:xfrm>
            <a:off x="4389120" y="1655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endParaRPr lang="en-US" sz="900" dirty="0"/>
          </a:p>
        </p:txBody>
      </p:sp>
      <p:sp>
        <p:nvSpPr>
          <p:cNvPr id="10" name="grupo0_var1"/>
          <p:cNvSpPr txBox="1"/>
          <p:nvPr/>
        </p:nvSpPr>
        <p:spPr>
          <a:xfrm>
            <a:off x="2944368" y="18653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</a:rPr>
              <a:t>Imagen</a:t>
            </a:r>
            <a:endParaRPr lang="en-US" sz="1100" dirty="0"/>
          </a:p>
        </p:txBody>
      </p:sp>
      <p:sp>
        <p:nvSpPr>
          <p:cNvPr id="11" name="grupo0_cod1"/>
          <p:cNvSpPr txBox="1"/>
          <p:nvPr/>
        </p:nvSpPr>
        <p:spPr>
          <a:xfrm>
            <a:off x="4389120" y="18653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img_id</a:t>
            </a:r>
            <a:endParaRPr lang="en-US" sz="900" dirty="0"/>
          </a:p>
        </p:txBody>
      </p:sp>
      <p:sp>
        <p:nvSpPr>
          <p:cNvPr id="12" name="grupo0_var2"/>
          <p:cNvSpPr txBox="1"/>
          <p:nvPr/>
        </p:nvSpPr>
        <p:spPr>
          <a:xfrm>
            <a:off x="2944368" y="20756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</a:rPr>
              <a:t>Código del edificio</a:t>
            </a:r>
            <a:endParaRPr lang="en-US" sz="1100" dirty="0"/>
          </a:p>
        </p:txBody>
      </p:sp>
      <p:sp>
        <p:nvSpPr>
          <p:cNvPr id="13" name="grupo0_cod2"/>
          <p:cNvSpPr txBox="1"/>
          <p:nvPr/>
        </p:nvSpPr>
        <p:spPr>
          <a:xfrm>
            <a:off x="4389120" y="2075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</a:t>
            </a:r>
            <a:endParaRPr lang="en-US" sz="900" dirty="0"/>
          </a:p>
        </p:txBody>
      </p:sp>
      <p:sp>
        <p:nvSpPr>
          <p:cNvPr id="14" name="grupo0_var3"/>
          <p:cNvSpPr txBox="1"/>
          <p:nvPr/>
        </p:nvSpPr>
        <p:spPr>
          <a:xfrm>
            <a:off x="2944368" y="22860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</a:rPr>
              <a:t>Desastre</a:t>
            </a:r>
            <a:endParaRPr lang="en-US" sz="1100" dirty="0"/>
          </a:p>
        </p:txBody>
      </p:sp>
      <p:sp>
        <p:nvSpPr>
          <p:cNvPr id="15" name="grupo0_cod3"/>
          <p:cNvSpPr txBox="1"/>
          <p:nvPr/>
        </p:nvSpPr>
        <p:spPr>
          <a:xfrm>
            <a:off x="4389120" y="22860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disaster</a:t>
            </a:r>
            <a:endParaRPr lang="en-US" sz="900" dirty="0"/>
          </a:p>
        </p:txBody>
      </p:sp>
      <p:sp>
        <p:nvSpPr>
          <p:cNvPr id="16" name="grupo0_var4"/>
          <p:cNvSpPr txBox="1"/>
          <p:nvPr/>
        </p:nvSpPr>
        <p:spPr>
          <a:xfrm>
            <a:off x="2944368" y="24963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</a:rPr>
              <a:t>Tipo de desastre</a:t>
            </a:r>
            <a:endParaRPr lang="en-US" sz="1100" dirty="0"/>
          </a:p>
        </p:txBody>
      </p:sp>
      <p:sp>
        <p:nvSpPr>
          <p:cNvPr id="17" name="grupo0_cod4"/>
          <p:cNvSpPr txBox="1"/>
          <p:nvPr/>
        </p:nvSpPr>
        <p:spPr>
          <a:xfrm>
            <a:off x="4389120" y="24963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disaster_type</a:t>
            </a:r>
            <a:endParaRPr lang="en-US" sz="900" dirty="0"/>
          </a:p>
        </p:txBody>
      </p:sp>
      <p:sp>
        <p:nvSpPr>
          <p:cNvPr id="18" name="grupo1"/>
          <p:cNvSpPr/>
          <p:nvPr/>
        </p:nvSpPr>
        <p:spPr>
          <a:xfrm>
            <a:off x="5760720" y="1143000"/>
            <a:ext cx="2926080" cy="1618488"/>
          </a:xfrm>
          <a:prstGeom prst="roundRect">
            <a:avLst>
              <a:gd name="adj" fmla="val 5650"/>
            </a:avLst>
          </a:prstGeom>
          <a:solidFill>
            <a:srgbClr val="F1F3F5"/>
          </a:solidFill>
          <a:ln/>
        </p:spPr>
      </p:sp>
      <p:sp>
        <p:nvSpPr>
          <p:cNvPr id="19" name="grupo1_punto"/>
          <p:cNvSpPr/>
          <p:nvPr/>
        </p:nvSpPr>
        <p:spPr>
          <a:xfrm>
            <a:off x="5961888" y="1325880"/>
            <a:ext cx="164592" cy="164592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0" name="grupo1_titulo"/>
          <p:cNvSpPr txBox="1"/>
          <p:nvPr/>
        </p:nvSpPr>
        <p:spPr>
          <a:xfrm>
            <a:off x="6236208" y="12344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</a:rPr>
              <a:t>Lo que queremos predecir</a:t>
            </a:r>
            <a:endParaRPr lang="en-US" sz="1500" dirty="0"/>
          </a:p>
        </p:txBody>
      </p:sp>
      <p:sp>
        <p:nvSpPr>
          <p:cNvPr id="21" name="grupo1_var0"/>
          <p:cNvSpPr txBox="1"/>
          <p:nvPr/>
        </p:nvSpPr>
        <p:spPr>
          <a:xfrm>
            <a:off x="5961888" y="16550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</a:rPr>
              <a:t>Nivel de daño (texto)</a:t>
            </a:r>
            <a:endParaRPr lang="en-US" sz="1100" dirty="0"/>
          </a:p>
        </p:txBody>
      </p:sp>
      <p:sp>
        <p:nvSpPr>
          <p:cNvPr id="22" name="grupo1_cod0"/>
          <p:cNvSpPr txBox="1"/>
          <p:nvPr/>
        </p:nvSpPr>
        <p:spPr>
          <a:xfrm>
            <a:off x="7406640" y="16550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</a:t>
            </a:r>
            <a:endParaRPr lang="en-US" sz="900" dirty="0"/>
          </a:p>
        </p:txBody>
      </p:sp>
      <p:sp>
        <p:nvSpPr>
          <p:cNvPr id="23" name="grupo1_var1"/>
          <p:cNvSpPr txBox="1"/>
          <p:nvPr/>
        </p:nvSpPr>
        <p:spPr>
          <a:xfrm>
            <a:off x="5961888" y="18653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</a:rPr>
              <a:t>Nivel de daño (número)</a:t>
            </a:r>
            <a:endParaRPr lang="en-US" sz="1100" dirty="0"/>
          </a:p>
        </p:txBody>
      </p:sp>
      <p:sp>
        <p:nvSpPr>
          <p:cNvPr id="24" name="grupo1_cod1"/>
          <p:cNvSpPr txBox="1"/>
          <p:nvPr/>
        </p:nvSpPr>
        <p:spPr>
          <a:xfrm>
            <a:off x="7406640" y="186537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damage_ord</a:t>
            </a:r>
            <a:endParaRPr lang="en-US" sz="900" dirty="0"/>
          </a:p>
        </p:txBody>
      </p:sp>
      <p:sp>
        <p:nvSpPr>
          <p:cNvPr id="25" name="nivel0"/>
          <p:cNvSpPr/>
          <p:nvPr/>
        </p:nvSpPr>
        <p:spPr>
          <a:xfrm>
            <a:off x="5961888" y="2212848"/>
            <a:ext cx="585216" cy="411480"/>
          </a:xfrm>
          <a:prstGeom prst="roundRect">
            <a:avLst>
              <a:gd name="adj" fmla="val 11111"/>
            </a:avLst>
          </a:prstGeom>
          <a:solidFill>
            <a:srgbClr val="2B8A3E"/>
          </a:solidFill>
          <a:ln/>
        </p:spPr>
      </p:sp>
      <p:sp>
        <p:nvSpPr>
          <p:cNvPr id="26" name="nivel0_texto"/>
          <p:cNvSpPr txBox="1"/>
          <p:nvPr/>
        </p:nvSpPr>
        <p:spPr>
          <a:xfrm>
            <a:off x="5961888" y="2212848"/>
            <a:ext cx="585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Sin daño</a:t>
            </a:r>
            <a:endParaRPr lang="en-US" sz="1200" dirty="0"/>
          </a:p>
        </p:txBody>
      </p:sp>
      <p:sp>
        <p:nvSpPr>
          <p:cNvPr id="27" name="nivel1"/>
          <p:cNvSpPr/>
          <p:nvPr/>
        </p:nvSpPr>
        <p:spPr>
          <a:xfrm>
            <a:off x="6620256" y="2212848"/>
            <a:ext cx="585216" cy="411480"/>
          </a:xfrm>
          <a:prstGeom prst="roundRect">
            <a:avLst>
              <a:gd name="adj" fmla="val 11111"/>
            </a:avLst>
          </a:prstGeom>
          <a:solidFill>
            <a:srgbClr val="F59F00"/>
          </a:solidFill>
          <a:ln/>
        </p:spPr>
      </p:sp>
      <p:sp>
        <p:nvSpPr>
          <p:cNvPr id="28" name="nivel1_texto"/>
          <p:cNvSpPr txBox="1"/>
          <p:nvPr/>
        </p:nvSpPr>
        <p:spPr>
          <a:xfrm>
            <a:off x="6620256" y="2212848"/>
            <a:ext cx="585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Menor</a:t>
            </a:r>
            <a:endParaRPr lang="en-US" sz="1200" dirty="0"/>
          </a:p>
        </p:txBody>
      </p:sp>
      <p:sp>
        <p:nvSpPr>
          <p:cNvPr id="29" name="nivel2"/>
          <p:cNvSpPr/>
          <p:nvPr/>
        </p:nvSpPr>
        <p:spPr>
          <a:xfrm>
            <a:off x="7278624" y="2212848"/>
            <a:ext cx="585216" cy="411480"/>
          </a:xfrm>
          <a:prstGeom prst="roundRect">
            <a:avLst>
              <a:gd name="adj" fmla="val 11111"/>
            </a:avLst>
          </a:prstGeom>
          <a:solidFill>
            <a:srgbClr val="E8590C"/>
          </a:solidFill>
          <a:ln/>
        </p:spPr>
      </p:sp>
      <p:sp>
        <p:nvSpPr>
          <p:cNvPr id="30" name="nivel2_texto"/>
          <p:cNvSpPr txBox="1"/>
          <p:nvPr/>
        </p:nvSpPr>
        <p:spPr>
          <a:xfrm>
            <a:off x="7278624" y="2212848"/>
            <a:ext cx="585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Mayor</a:t>
            </a:r>
            <a:endParaRPr lang="en-US" sz="1200" dirty="0"/>
          </a:p>
        </p:txBody>
      </p:sp>
      <p:sp>
        <p:nvSpPr>
          <p:cNvPr id="31" name="nivel3"/>
          <p:cNvSpPr/>
          <p:nvPr/>
        </p:nvSpPr>
        <p:spPr>
          <a:xfrm>
            <a:off x="7936992" y="2212848"/>
            <a:ext cx="585216" cy="411480"/>
          </a:xfrm>
          <a:prstGeom prst="roundRect">
            <a:avLst>
              <a:gd name="adj" fmla="val 11111"/>
            </a:avLst>
          </a:prstGeom>
          <a:solidFill>
            <a:srgbClr val="C92A2A"/>
          </a:solidFill>
          <a:ln/>
        </p:spPr>
      </p:sp>
      <p:sp>
        <p:nvSpPr>
          <p:cNvPr id="32" name="nivel3_texto"/>
          <p:cNvSpPr txBox="1"/>
          <p:nvPr/>
        </p:nvSpPr>
        <p:spPr>
          <a:xfrm>
            <a:off x="7936992" y="2212848"/>
            <a:ext cx="585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Destruido</a:t>
            </a:r>
            <a:endParaRPr lang="en-US" sz="1200" dirty="0"/>
          </a:p>
        </p:txBody>
      </p:sp>
      <p:sp>
        <p:nvSpPr>
          <p:cNvPr id="33" name="grupo2"/>
          <p:cNvSpPr/>
          <p:nvPr/>
        </p:nvSpPr>
        <p:spPr>
          <a:xfrm>
            <a:off x="2743200" y="2907792"/>
            <a:ext cx="2926080" cy="1618488"/>
          </a:xfrm>
          <a:prstGeom prst="roundRect">
            <a:avLst>
              <a:gd name="adj" fmla="val 5650"/>
            </a:avLst>
          </a:prstGeom>
          <a:solidFill>
            <a:srgbClr val="F1F3F5"/>
          </a:solidFill>
          <a:ln/>
        </p:spPr>
      </p:sp>
      <p:sp>
        <p:nvSpPr>
          <p:cNvPr id="34" name="grupo2_punto"/>
          <p:cNvSpPr/>
          <p:nvPr/>
        </p:nvSpPr>
        <p:spPr>
          <a:xfrm>
            <a:off x="2944368" y="3090672"/>
            <a:ext cx="164592" cy="164592"/>
          </a:xfrm>
          <a:prstGeom prst="ellipse">
            <a:avLst/>
          </a:prstGeom>
          <a:solidFill>
            <a:srgbClr val="2B8A3E"/>
          </a:solidFill>
          <a:ln/>
        </p:spPr>
      </p:sp>
      <p:sp>
        <p:nvSpPr>
          <p:cNvPr id="35" name="grupo2_titulo"/>
          <p:cNvSpPr txBox="1"/>
          <p:nvPr/>
        </p:nvSpPr>
        <p:spPr>
          <a:xfrm>
            <a:off x="3218688" y="29992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</a:rPr>
              <a:t>Tamaño y ubicación</a:t>
            </a:r>
            <a:endParaRPr lang="en-US" sz="1500" dirty="0"/>
          </a:p>
        </p:txBody>
      </p:sp>
      <p:sp>
        <p:nvSpPr>
          <p:cNvPr id="36" name="grupo2_var0"/>
          <p:cNvSpPr txBox="1"/>
          <p:nvPr/>
        </p:nvSpPr>
        <p:spPr>
          <a:xfrm>
            <a:off x="2944368" y="3419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</a:rPr>
              <a:t>Área en píxeles</a:t>
            </a:r>
            <a:endParaRPr lang="en-US" sz="1100" dirty="0"/>
          </a:p>
        </p:txBody>
      </p:sp>
      <p:sp>
        <p:nvSpPr>
          <p:cNvPr id="37" name="grupo2_cod0"/>
          <p:cNvSpPr txBox="1"/>
          <p:nvPr/>
        </p:nvSpPr>
        <p:spPr>
          <a:xfrm>
            <a:off x="4389120" y="34198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area_px</a:t>
            </a:r>
            <a:endParaRPr lang="en-US" sz="900" dirty="0"/>
          </a:p>
        </p:txBody>
      </p:sp>
      <p:sp>
        <p:nvSpPr>
          <p:cNvPr id="38" name="grupo2_var1"/>
          <p:cNvSpPr txBox="1"/>
          <p:nvPr/>
        </p:nvSpPr>
        <p:spPr>
          <a:xfrm>
            <a:off x="2944368" y="3630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</a:rPr>
              <a:t>Área en m²</a:t>
            </a:r>
            <a:endParaRPr lang="en-US" sz="1100" dirty="0"/>
          </a:p>
        </p:txBody>
      </p:sp>
      <p:sp>
        <p:nvSpPr>
          <p:cNvPr id="39" name="grupo2_cod1"/>
          <p:cNvSpPr txBox="1"/>
          <p:nvPr/>
        </p:nvSpPr>
        <p:spPr>
          <a:xfrm>
            <a:off x="4389120" y="36301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area_m2</a:t>
            </a:r>
            <a:endParaRPr lang="en-US" sz="900" dirty="0"/>
          </a:p>
        </p:txBody>
      </p:sp>
      <p:sp>
        <p:nvSpPr>
          <p:cNvPr id="40" name="grupo2_var2"/>
          <p:cNvSpPr txBox="1"/>
          <p:nvPr/>
        </p:nvSpPr>
        <p:spPr>
          <a:xfrm>
            <a:off x="2944368" y="3840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</a:rPr>
              <a:t>Centro del edificio</a:t>
            </a:r>
            <a:endParaRPr lang="en-US" sz="1100" dirty="0"/>
          </a:p>
        </p:txBody>
      </p:sp>
      <p:sp>
        <p:nvSpPr>
          <p:cNvPr id="41" name="grupo2_cod2"/>
          <p:cNvSpPr txBox="1"/>
          <p:nvPr/>
        </p:nvSpPr>
        <p:spPr>
          <a:xfrm>
            <a:off x="4389120" y="38404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 · cy</a:t>
            </a:r>
            <a:endParaRPr lang="en-US" sz="900" dirty="0"/>
          </a:p>
        </p:txBody>
      </p:sp>
      <p:sp>
        <p:nvSpPr>
          <p:cNvPr id="42" name="grupo3"/>
          <p:cNvSpPr/>
          <p:nvPr/>
        </p:nvSpPr>
        <p:spPr>
          <a:xfrm>
            <a:off x="5760720" y="2907792"/>
            <a:ext cx="2926080" cy="1618488"/>
          </a:xfrm>
          <a:prstGeom prst="roundRect">
            <a:avLst>
              <a:gd name="adj" fmla="val 5650"/>
            </a:avLst>
          </a:prstGeom>
          <a:solidFill>
            <a:srgbClr val="F1F3F5"/>
          </a:solidFill>
          <a:ln/>
        </p:spPr>
      </p:sp>
      <p:sp>
        <p:nvSpPr>
          <p:cNvPr id="43" name="grupo3_punto"/>
          <p:cNvSpPr/>
          <p:nvPr/>
        </p:nvSpPr>
        <p:spPr>
          <a:xfrm>
            <a:off x="5961888" y="3090672"/>
            <a:ext cx="164592" cy="164592"/>
          </a:xfrm>
          <a:prstGeom prst="ellipse">
            <a:avLst/>
          </a:prstGeom>
          <a:solidFill>
            <a:srgbClr val="F59F00"/>
          </a:solidFill>
          <a:ln/>
        </p:spPr>
      </p:sp>
      <p:sp>
        <p:nvSpPr>
          <p:cNvPr id="44" name="grupo3_titulo"/>
          <p:cNvSpPr txBox="1"/>
          <p:nvPr/>
        </p:nvSpPr>
        <p:spPr>
          <a:xfrm>
            <a:off x="6236208" y="29992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</a:rPr>
              <a:t>Cómo se tomó la foto</a:t>
            </a:r>
            <a:endParaRPr lang="en-US" sz="1500" dirty="0"/>
          </a:p>
        </p:txBody>
      </p:sp>
      <p:sp>
        <p:nvSpPr>
          <p:cNvPr id="45" name="grupo3_var0"/>
          <p:cNvSpPr txBox="1"/>
          <p:nvPr/>
        </p:nvSpPr>
        <p:spPr>
          <a:xfrm>
            <a:off x="5961888" y="3419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</a:rPr>
              <a:t>Resolución (m/píxel)</a:t>
            </a:r>
            <a:endParaRPr lang="en-US" sz="1100" dirty="0"/>
          </a:p>
        </p:txBody>
      </p:sp>
      <p:sp>
        <p:nvSpPr>
          <p:cNvPr id="46" name="grupo3_cod0"/>
          <p:cNvSpPr txBox="1"/>
          <p:nvPr/>
        </p:nvSpPr>
        <p:spPr>
          <a:xfrm>
            <a:off x="7406640" y="34198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gsd</a:t>
            </a:r>
            <a:endParaRPr lang="en-US" sz="900" dirty="0"/>
          </a:p>
        </p:txBody>
      </p:sp>
      <p:sp>
        <p:nvSpPr>
          <p:cNvPr id="47" name="grupo3_var1"/>
          <p:cNvSpPr txBox="1"/>
          <p:nvPr/>
        </p:nvSpPr>
        <p:spPr>
          <a:xfrm>
            <a:off x="5961888" y="3630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</a:rPr>
              <a:t>Inclinación del satélite</a:t>
            </a:r>
            <a:endParaRPr lang="en-US" sz="1100" dirty="0"/>
          </a:p>
        </p:txBody>
      </p:sp>
      <p:sp>
        <p:nvSpPr>
          <p:cNvPr id="48" name="grupo3_cod1"/>
          <p:cNvSpPr txBox="1"/>
          <p:nvPr/>
        </p:nvSpPr>
        <p:spPr>
          <a:xfrm>
            <a:off x="7406640" y="36301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off_nadir_angle</a:t>
            </a:r>
            <a:endParaRPr lang="en-US" sz="900" dirty="0"/>
          </a:p>
        </p:txBody>
      </p:sp>
      <p:sp>
        <p:nvSpPr>
          <p:cNvPr id="49" name="grupo3_var2"/>
          <p:cNvSpPr txBox="1"/>
          <p:nvPr/>
        </p:nvSpPr>
        <p:spPr>
          <a:xfrm>
            <a:off x="5961888" y="3840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</a:rPr>
              <a:t>Altura del sol</a:t>
            </a:r>
            <a:endParaRPr lang="en-US" sz="1100" dirty="0"/>
          </a:p>
        </p:txBody>
      </p:sp>
      <p:sp>
        <p:nvSpPr>
          <p:cNvPr id="50" name="grupo3_cod2"/>
          <p:cNvSpPr txBox="1"/>
          <p:nvPr/>
        </p:nvSpPr>
        <p:spPr>
          <a:xfrm>
            <a:off x="7406640" y="38404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sun_elevation</a:t>
            </a:r>
            <a:endParaRPr lang="en-US" sz="900" dirty="0"/>
          </a:p>
        </p:txBody>
      </p:sp>
      <p:sp>
        <p:nvSpPr>
          <p:cNvPr id="51" name="grupo3_var3"/>
          <p:cNvSpPr txBox="1"/>
          <p:nvPr/>
        </p:nvSpPr>
        <p:spPr>
          <a:xfrm>
            <a:off x="5961888" y="40507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</a:rPr>
              <a:t>Fecha</a:t>
            </a:r>
            <a:endParaRPr lang="en-US" sz="1100" dirty="0"/>
          </a:p>
        </p:txBody>
      </p:sp>
      <p:sp>
        <p:nvSpPr>
          <p:cNvPr id="52" name="grupo3_cod3"/>
          <p:cNvSpPr txBox="1"/>
          <p:nvPr/>
        </p:nvSpPr>
        <p:spPr>
          <a:xfrm>
            <a:off x="7406640" y="40507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capture_date</a:t>
            </a:r>
            <a:endParaRPr lang="en-US" sz="900" dirty="0"/>
          </a:p>
        </p:txBody>
      </p:sp>
      <p:sp>
        <p:nvSpPr>
          <p:cNvPr id="53" name="grupo3_var4"/>
          <p:cNvSpPr txBox="1"/>
          <p:nvPr/>
        </p:nvSpPr>
        <p:spPr>
          <a:xfrm>
            <a:off x="5961888" y="42611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6"/>
                </a:solidFill>
              </a:rPr>
              <a:t>Satélite</a:t>
            </a:r>
            <a:endParaRPr lang="en-US" sz="1100" dirty="0"/>
          </a:p>
        </p:txBody>
      </p:sp>
      <p:sp>
        <p:nvSpPr>
          <p:cNvPr id="54" name="grupo3_cod4"/>
          <p:cNvSpPr txBox="1"/>
          <p:nvPr/>
        </p:nvSpPr>
        <p:spPr>
          <a:xfrm>
            <a:off x="7406640" y="42611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Cómo lo haremos: 6 pasos</a:t>
            </a:r>
            <a:endParaRPr lang="en-US" sz="2800" dirty="0"/>
          </a:p>
        </p:txBody>
      </p:sp>
      <p:sp>
        <p:nvSpPr>
          <p:cNvPr id="3" name="paso0"/>
          <p:cNvSpPr/>
          <p:nvPr/>
        </p:nvSpPr>
        <p:spPr>
          <a:xfrm>
            <a:off x="457200" y="1143000"/>
            <a:ext cx="2615184" cy="1618488"/>
          </a:xfrm>
          <a:prstGeom prst="roundRect">
            <a:avLst>
              <a:gd name="adj" fmla="val 5650"/>
            </a:avLst>
          </a:prstGeom>
          <a:solidFill>
            <a:srgbClr val="F1F3F5"/>
          </a:solidFill>
          <a:ln/>
        </p:spPr>
      </p:sp>
      <p:sp>
        <p:nvSpPr>
          <p:cNvPr id="4" name="paso0_circulo"/>
          <p:cNvSpPr/>
          <p:nvPr/>
        </p:nvSpPr>
        <p:spPr>
          <a:xfrm>
            <a:off x="658368" y="132588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5" name="paso0_num"/>
          <p:cNvSpPr txBox="1"/>
          <p:nvPr/>
        </p:nvSpPr>
        <p:spPr>
          <a:xfrm>
            <a:off x="65836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aso0_titulo"/>
          <p:cNvSpPr txBox="1"/>
          <p:nvPr/>
        </p:nvSpPr>
        <p:spPr>
          <a:xfrm>
            <a:off x="1234440" y="1325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</a:rPr>
              <a:t>Descargar</a:t>
            </a:r>
            <a:endParaRPr lang="en-US" sz="1500" dirty="0"/>
          </a:p>
        </p:txBody>
      </p:sp>
      <p:sp>
        <p:nvSpPr>
          <p:cNvPr id="7" name="paso0_desc"/>
          <p:cNvSpPr txBox="1"/>
          <p:nvPr/>
        </p:nvSpPr>
        <p:spPr>
          <a:xfrm>
            <a:off x="658368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Set de entrenamiento Tier 1 con los sismos de México y Palu.</a:t>
            </a:r>
            <a:endParaRPr lang="en-US" sz="1200" dirty="0"/>
          </a:p>
        </p:txBody>
      </p:sp>
      <p:sp>
        <p:nvSpPr>
          <p:cNvPr id="8" name="paso0_archivo"/>
          <p:cNvSpPr txBox="1"/>
          <p:nvPr/>
        </p:nvSpPr>
        <p:spPr>
          <a:xfrm>
            <a:off x="658368" y="24048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data/raw/</a:t>
            </a:r>
            <a:endParaRPr lang="en-US" sz="1000" dirty="0"/>
          </a:p>
        </p:txBody>
      </p:sp>
      <p:sp>
        <p:nvSpPr>
          <p:cNvPr id="9" name="paso1"/>
          <p:cNvSpPr/>
          <p:nvPr/>
        </p:nvSpPr>
        <p:spPr>
          <a:xfrm>
            <a:off x="3264408" y="1143000"/>
            <a:ext cx="2615184" cy="1618488"/>
          </a:xfrm>
          <a:prstGeom prst="roundRect">
            <a:avLst>
              <a:gd name="adj" fmla="val 5650"/>
            </a:avLst>
          </a:prstGeom>
          <a:solidFill>
            <a:srgbClr val="F1F3F5"/>
          </a:solidFill>
          <a:ln/>
        </p:spPr>
      </p:sp>
      <p:sp>
        <p:nvSpPr>
          <p:cNvPr id="10" name="paso1_circulo"/>
          <p:cNvSpPr/>
          <p:nvPr/>
        </p:nvSpPr>
        <p:spPr>
          <a:xfrm>
            <a:off x="3465576" y="132588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1" name="paso1_num"/>
          <p:cNvSpPr txBox="1"/>
          <p:nvPr/>
        </p:nvSpPr>
        <p:spPr>
          <a:xfrm>
            <a:off x="346557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paso1_titulo"/>
          <p:cNvSpPr txBox="1"/>
          <p:nvPr/>
        </p:nvSpPr>
        <p:spPr>
          <a:xfrm>
            <a:off x="4041648" y="1325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</a:rPr>
              <a:t>Extraer etiquetas</a:t>
            </a:r>
            <a:endParaRPr lang="en-US" sz="1500" dirty="0"/>
          </a:p>
        </p:txBody>
      </p:sp>
      <p:sp>
        <p:nvSpPr>
          <p:cNvPr id="13" name="paso1_desc"/>
          <p:cNvSpPr txBox="1"/>
          <p:nvPr/>
        </p:nvSpPr>
        <p:spPr>
          <a:xfrm>
            <a:off x="3465576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JSON → tabla CSV, una fila por edificación.</a:t>
            </a:r>
            <a:endParaRPr lang="en-US" sz="1200" dirty="0"/>
          </a:p>
        </p:txBody>
      </p:sp>
      <p:sp>
        <p:nvSpPr>
          <p:cNvPr id="14" name="paso1_archivo"/>
          <p:cNvSpPr txBox="1"/>
          <p:nvPr/>
        </p:nvSpPr>
        <p:spPr>
          <a:xfrm>
            <a:off x="3465576" y="24048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src/extraer_etiquetas.py</a:t>
            </a:r>
            <a:endParaRPr lang="en-US" sz="1000" dirty="0"/>
          </a:p>
        </p:txBody>
      </p:sp>
      <p:sp>
        <p:nvSpPr>
          <p:cNvPr id="15" name="paso2"/>
          <p:cNvSpPr/>
          <p:nvPr/>
        </p:nvSpPr>
        <p:spPr>
          <a:xfrm>
            <a:off x="6071616" y="1143000"/>
            <a:ext cx="2615184" cy="1618488"/>
          </a:xfrm>
          <a:prstGeom prst="roundRect">
            <a:avLst>
              <a:gd name="adj" fmla="val 5650"/>
            </a:avLst>
          </a:prstGeom>
          <a:solidFill>
            <a:srgbClr val="F1F3F5"/>
          </a:solidFill>
          <a:ln/>
        </p:spPr>
      </p:sp>
      <p:sp>
        <p:nvSpPr>
          <p:cNvPr id="16" name="paso2_circulo"/>
          <p:cNvSpPr/>
          <p:nvPr/>
        </p:nvSpPr>
        <p:spPr>
          <a:xfrm>
            <a:off x="6272784" y="132588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7" name="paso2_num"/>
          <p:cNvSpPr txBox="1"/>
          <p:nvPr/>
        </p:nvSpPr>
        <p:spPr>
          <a:xfrm>
            <a:off x="627278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paso2_titulo"/>
          <p:cNvSpPr txBox="1"/>
          <p:nvPr/>
        </p:nvSpPr>
        <p:spPr>
          <a:xfrm>
            <a:off x="6848856" y="1325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</a:rPr>
              <a:t>Explorar (EDA)</a:t>
            </a:r>
            <a:endParaRPr lang="en-US" sz="1500" dirty="0"/>
          </a:p>
        </p:txBody>
      </p:sp>
      <p:sp>
        <p:nvSpPr>
          <p:cNvPr id="19" name="paso2_desc"/>
          <p:cNvSpPr txBox="1"/>
          <p:nvPr/>
        </p:nvSpPr>
        <p:spPr>
          <a:xfrm>
            <a:off x="6272784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Clases, áreas y eventos; foco en México.</a:t>
            </a:r>
            <a:endParaRPr lang="en-US" sz="1200" dirty="0"/>
          </a:p>
        </p:txBody>
      </p:sp>
      <p:sp>
        <p:nvSpPr>
          <p:cNvPr id="20" name="paso2_archivo"/>
          <p:cNvSpPr txBox="1"/>
          <p:nvPr/>
        </p:nvSpPr>
        <p:spPr>
          <a:xfrm>
            <a:off x="6272784" y="24048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notebooks/</a:t>
            </a:r>
            <a:endParaRPr lang="en-US" sz="1000" dirty="0"/>
          </a:p>
        </p:txBody>
      </p:sp>
      <p:sp>
        <p:nvSpPr>
          <p:cNvPr id="21" name="paso3"/>
          <p:cNvSpPr/>
          <p:nvPr/>
        </p:nvSpPr>
        <p:spPr>
          <a:xfrm>
            <a:off x="457200" y="2907792"/>
            <a:ext cx="2615184" cy="1618488"/>
          </a:xfrm>
          <a:prstGeom prst="roundRect">
            <a:avLst>
              <a:gd name="adj" fmla="val 5650"/>
            </a:avLst>
          </a:prstGeom>
          <a:solidFill>
            <a:srgbClr val="F1F3F5"/>
          </a:solidFill>
          <a:ln/>
        </p:spPr>
      </p:sp>
      <p:sp>
        <p:nvSpPr>
          <p:cNvPr id="22" name="paso3_circulo"/>
          <p:cNvSpPr/>
          <p:nvPr/>
        </p:nvSpPr>
        <p:spPr>
          <a:xfrm>
            <a:off x="658368" y="3090672"/>
            <a:ext cx="457200" cy="457200"/>
          </a:xfrm>
          <a:prstGeom prst="ellipse">
            <a:avLst/>
          </a:prstGeom>
          <a:solidFill>
            <a:srgbClr val="5C677D"/>
          </a:solidFill>
          <a:ln/>
        </p:spPr>
      </p:sp>
      <p:sp>
        <p:nvSpPr>
          <p:cNvPr id="23" name="paso3_num"/>
          <p:cNvSpPr txBox="1"/>
          <p:nvPr/>
        </p:nvSpPr>
        <p:spPr>
          <a:xfrm>
            <a:off x="658368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paso3_titulo"/>
          <p:cNvSpPr txBox="1"/>
          <p:nvPr/>
        </p:nvSpPr>
        <p:spPr>
          <a:xfrm>
            <a:off x="1234440" y="30906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</a:rPr>
              <a:t>Modelo base</a:t>
            </a:r>
            <a:endParaRPr lang="en-US" sz="1500" dirty="0"/>
          </a:p>
        </p:txBody>
      </p:sp>
      <p:sp>
        <p:nvSpPr>
          <p:cNvPr id="25" name="paso3_desc"/>
          <p:cNvSpPr txBox="1"/>
          <p:nvPr/>
        </p:nvSpPr>
        <p:spPr>
          <a:xfrm>
            <a:off x="658368" y="36393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Clasificar daño 0–3 con imagen pre y post.</a:t>
            </a:r>
            <a:endParaRPr lang="en-US" sz="1200" dirty="0"/>
          </a:p>
        </p:txBody>
      </p:sp>
      <p:sp>
        <p:nvSpPr>
          <p:cNvPr id="26" name="paso3_archivo"/>
          <p:cNvSpPr txBox="1"/>
          <p:nvPr/>
        </p:nvSpPr>
        <p:spPr>
          <a:xfrm>
            <a:off x="658368" y="41696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 siguiente</a:t>
            </a:r>
            <a:endParaRPr lang="en-US" sz="1000" dirty="0"/>
          </a:p>
        </p:txBody>
      </p:sp>
      <p:sp>
        <p:nvSpPr>
          <p:cNvPr id="27" name="paso4"/>
          <p:cNvSpPr/>
          <p:nvPr/>
        </p:nvSpPr>
        <p:spPr>
          <a:xfrm>
            <a:off x="3264408" y="2907792"/>
            <a:ext cx="2615184" cy="1618488"/>
          </a:xfrm>
          <a:prstGeom prst="roundRect">
            <a:avLst>
              <a:gd name="adj" fmla="val 5650"/>
            </a:avLst>
          </a:prstGeom>
          <a:solidFill>
            <a:srgbClr val="F1F3F5"/>
          </a:solidFill>
          <a:ln/>
        </p:spPr>
      </p:sp>
      <p:sp>
        <p:nvSpPr>
          <p:cNvPr id="28" name="paso4_circulo"/>
          <p:cNvSpPr/>
          <p:nvPr/>
        </p:nvSpPr>
        <p:spPr>
          <a:xfrm>
            <a:off x="3465576" y="3090672"/>
            <a:ext cx="457200" cy="457200"/>
          </a:xfrm>
          <a:prstGeom prst="ellipse">
            <a:avLst/>
          </a:prstGeom>
          <a:solidFill>
            <a:srgbClr val="5C677D"/>
          </a:solidFill>
          <a:ln/>
        </p:spPr>
      </p:sp>
      <p:sp>
        <p:nvSpPr>
          <p:cNvPr id="29" name="paso4_num"/>
          <p:cNvSpPr txBox="1"/>
          <p:nvPr/>
        </p:nvSpPr>
        <p:spPr>
          <a:xfrm>
            <a:off x="3465576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paso4_titulo"/>
          <p:cNvSpPr txBox="1"/>
          <p:nvPr/>
        </p:nvSpPr>
        <p:spPr>
          <a:xfrm>
            <a:off x="4041648" y="30906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</a:rPr>
              <a:t>Validar con PCS</a:t>
            </a:r>
            <a:endParaRPr lang="en-US" sz="1500" dirty="0"/>
          </a:p>
        </p:txBody>
      </p:sp>
      <p:sp>
        <p:nvSpPr>
          <p:cNvPr id="31" name="paso4_desc"/>
          <p:cNvSpPr txBox="1"/>
          <p:nvPr/>
        </p:nvSpPr>
        <p:spPr>
          <a:xfrm>
            <a:off x="3465576" y="36393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Probar en un sismo no visto y medir estabilidad.</a:t>
            </a:r>
            <a:endParaRPr lang="en-US" sz="1200" dirty="0"/>
          </a:p>
        </p:txBody>
      </p:sp>
      <p:sp>
        <p:nvSpPr>
          <p:cNvPr id="32" name="paso4_archivo"/>
          <p:cNvSpPr txBox="1"/>
          <p:nvPr/>
        </p:nvSpPr>
        <p:spPr>
          <a:xfrm>
            <a:off x="3465576" y="41696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docs/marco_pcs.md</a:t>
            </a:r>
            <a:endParaRPr lang="en-US" sz="1000" dirty="0"/>
          </a:p>
        </p:txBody>
      </p:sp>
      <p:sp>
        <p:nvSpPr>
          <p:cNvPr id="33" name="paso5"/>
          <p:cNvSpPr/>
          <p:nvPr/>
        </p:nvSpPr>
        <p:spPr>
          <a:xfrm>
            <a:off x="6071616" y="2907792"/>
            <a:ext cx="2615184" cy="1618488"/>
          </a:xfrm>
          <a:prstGeom prst="roundRect">
            <a:avLst>
              <a:gd name="adj" fmla="val 5650"/>
            </a:avLst>
          </a:prstGeom>
          <a:solidFill>
            <a:srgbClr val="F1F3F5"/>
          </a:solidFill>
          <a:ln/>
        </p:spPr>
      </p:sp>
      <p:sp>
        <p:nvSpPr>
          <p:cNvPr id="34" name="paso5_circulo"/>
          <p:cNvSpPr/>
          <p:nvPr/>
        </p:nvSpPr>
        <p:spPr>
          <a:xfrm>
            <a:off x="6272784" y="3090672"/>
            <a:ext cx="457200" cy="457200"/>
          </a:xfrm>
          <a:prstGeom prst="ellipse">
            <a:avLst/>
          </a:prstGeom>
          <a:solidFill>
            <a:srgbClr val="5C677D"/>
          </a:solidFill>
          <a:ln/>
        </p:spPr>
      </p:sp>
      <p:sp>
        <p:nvSpPr>
          <p:cNvPr id="35" name="paso5_num"/>
          <p:cNvSpPr txBox="1"/>
          <p:nvPr/>
        </p:nvSpPr>
        <p:spPr>
          <a:xfrm>
            <a:off x="6272784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6" name="paso5_titulo"/>
          <p:cNvSpPr txBox="1"/>
          <p:nvPr/>
        </p:nvSpPr>
        <p:spPr>
          <a:xfrm>
            <a:off x="6848856" y="30906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36"/>
                </a:solidFill>
              </a:rPr>
              <a:t>Comunicar</a:t>
            </a:r>
            <a:endParaRPr lang="en-US" sz="1500" dirty="0"/>
          </a:p>
        </p:txBody>
      </p:sp>
      <p:sp>
        <p:nvSpPr>
          <p:cNvPr id="37" name="paso5_desc"/>
          <p:cNvSpPr txBox="1"/>
          <p:nvPr/>
        </p:nvSpPr>
        <p:spPr>
          <a:xfrm>
            <a:off x="6272784" y="36393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Informe, figuras y exposición.</a:t>
            </a:r>
            <a:endParaRPr lang="en-US" sz="1200" dirty="0"/>
          </a:p>
        </p:txBody>
      </p:sp>
      <p:sp>
        <p:nvSpPr>
          <p:cNvPr id="38" name="paso5_archivo"/>
          <p:cNvSpPr txBox="1"/>
          <p:nvPr/>
        </p:nvSpPr>
        <p:spPr>
          <a:xfrm>
            <a:off x="6272784" y="41696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reports/ · Presentacion/</a:t>
            </a:r>
            <a:endParaRPr lang="en-US" sz="1000" dirty="0"/>
          </a:p>
        </p:txBody>
      </p:sp>
      <p:sp>
        <p:nvSpPr>
          <p:cNvPr id="39" name="leyenda"/>
          <p:cNvSpPr txBox="1"/>
          <p:nvPr/>
        </p:nvSpPr>
        <p:spPr>
          <a:xfrm>
            <a:off x="5669280" y="4754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590C"/>
                </a:solidFill>
              </a:rPr>
              <a:t>● </a:t>
            </a:r>
            <a:pPr algn="r" indent="0" marL="0">
              <a:buNone/>
            </a:pPr>
            <a:r>
              <a:rPr lang="en-US" sz="1000" dirty="0">
                <a:solidFill>
                  <a:srgbClr val="5C677D"/>
                </a:solidFill>
              </a:rPr>
              <a:t>Entrega 1   </a:t>
            </a:r>
            <a:pPr algn="r" indent="0" marL="0">
              <a:buNone/>
            </a:pPr>
            <a:r>
              <a:rPr lang="en-US" sz="1000" dirty="0">
                <a:solidFill>
                  <a:srgbClr val="5C677D"/>
                </a:solidFill>
              </a:rPr>
              <a:t>● </a:t>
            </a:r>
            <a:pPr algn="r" indent="0" marL="0">
              <a:buNone/>
            </a:pPr>
            <a:r>
              <a:rPr lang="en-US" sz="1000" dirty="0">
                <a:solidFill>
                  <a:srgbClr val="5C677D"/>
                </a:solidFill>
              </a:rPr>
              <a:t>Entregas siguientes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Marco PCS: ¿el modelo es confiable?</a:t>
            </a:r>
            <a:endParaRPr lang="en-US" sz="2800" dirty="0"/>
          </a:p>
        </p:txBody>
      </p:sp>
      <p:graphicFrame>
        <p:nvGraphicFramePr>
          <p:cNvPr id="6" name="tabla_pc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3840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Principio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Pregunta que responde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Qué haremos</a:t>
                      </a:r>
                      <a:endParaRPr lang="en-US" sz="13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590C"/>
                          </a:solidFill>
                        </a:rPr>
                        <a:t>Predictibilidad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</a:rPr>
                        <a:t>¿Funciona en un sismo que no vio?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</a:rPr>
                        <a:t>Entrenar sin México y probar en México. Métrica F1, no exactitud.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590C"/>
                          </a:solidFill>
                        </a:rPr>
                        <a:t>Computabilidad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</a:rPr>
                        <a:t>¿Es factible y reproducible?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</a:rPr>
                        <a:t>Subconjunto documentado, GPU gratuita, código y semillas en GitHub.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590C"/>
                          </a:solidFill>
                        </a:rPr>
                        <a:t>Estabilidad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</a:rPr>
                        <a:t>¿Cambian las conclusiones con decisiones razonables?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F36"/>
                          </a:solidFill>
                        </a:rPr>
                        <a:t>Fusionar clases, simular 2–3 % de etiquetas erróneas, desplazar polígonos, cambiar semillas.</a:t>
                      </a:r>
                      <a:endParaRPr lang="en-US" sz="1200" dirty="0"/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ef_pcs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E96"/>
                </a:solidFill>
              </a:rPr>
              <a:t>Referencia: Yu, B. &amp; Barter, R. (2024). Veridical Data Science. MIT Press. Detalle en docs/marco_pcs.md.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Lo que tendremos al final</a:t>
            </a:r>
            <a:endParaRPr lang="en-US" sz="2800" dirty="0"/>
          </a:p>
        </p:txBody>
      </p:sp>
      <p:sp>
        <p:nvSpPr>
          <p:cNvPr id="3" name="fin0"/>
          <p:cNvSpPr/>
          <p:nvPr/>
        </p:nvSpPr>
        <p:spPr>
          <a:xfrm>
            <a:off x="457200" y="123444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3A3F48"/>
          </a:solidFill>
          <a:ln/>
        </p:spPr>
      </p:sp>
      <p:sp>
        <p:nvSpPr>
          <p:cNvPr id="4" name="fin0_circulo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5" name="fin0_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623060"/>
            <a:ext cx="320040" cy="320040"/>
          </a:xfrm>
          <a:prstGeom prst="rect">
            <a:avLst/>
          </a:prstGeom>
        </p:spPr>
      </p:pic>
      <p:sp>
        <p:nvSpPr>
          <p:cNvPr id="6" name="fin0_texto"/>
          <p:cNvSpPr txBox="1"/>
          <p:nvPr/>
        </p:nvSpPr>
        <p:spPr>
          <a:xfrm>
            <a:off x="685800" y="22860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tabla documentada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ED4DA"/>
                </a:solidFill>
              </a:rPr>
              <a:t>Edificaciones del sismo de México con su nivel de daño y metadatos.</a:t>
            </a:r>
            <a:endParaRPr lang="en-US" sz="1700" dirty="0"/>
          </a:p>
        </p:txBody>
      </p:sp>
      <p:sp>
        <p:nvSpPr>
          <p:cNvPr id="7" name="fin1"/>
          <p:cNvSpPr/>
          <p:nvPr/>
        </p:nvSpPr>
        <p:spPr>
          <a:xfrm>
            <a:off x="3264408" y="123444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3A3F48"/>
          </a:solidFill>
          <a:ln/>
        </p:spPr>
      </p:sp>
      <p:sp>
        <p:nvSpPr>
          <p:cNvPr id="8" name="fin1_circulo"/>
          <p:cNvSpPr/>
          <p:nvPr/>
        </p:nvSpPr>
        <p:spPr>
          <a:xfrm>
            <a:off x="3493008" y="1463040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9" name="fin1_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028" y="1623060"/>
            <a:ext cx="320040" cy="320040"/>
          </a:xfrm>
          <a:prstGeom prst="rect">
            <a:avLst/>
          </a:prstGeom>
        </p:spPr>
      </p:pic>
      <p:sp>
        <p:nvSpPr>
          <p:cNvPr id="10" name="fin1_texto"/>
          <p:cNvSpPr txBox="1"/>
          <p:nvPr/>
        </p:nvSpPr>
        <p:spPr>
          <a:xfrm>
            <a:off x="3493008" y="22860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modelo de triaje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ED4DA"/>
                </a:solidFill>
              </a:rPr>
              <a:t>Clasifica el daño de cada edificación con imágenes pre y post.</a:t>
            </a:r>
            <a:endParaRPr lang="en-US" sz="1700" dirty="0"/>
          </a:p>
        </p:txBody>
      </p:sp>
      <p:sp>
        <p:nvSpPr>
          <p:cNvPr id="11" name="fin2"/>
          <p:cNvSpPr/>
          <p:nvPr/>
        </p:nvSpPr>
        <p:spPr>
          <a:xfrm>
            <a:off x="6071616" y="123444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3A3F48"/>
          </a:solidFill>
          <a:ln/>
        </p:spPr>
      </p:sp>
      <p:sp>
        <p:nvSpPr>
          <p:cNvPr id="12" name="fin2_circulo"/>
          <p:cNvSpPr/>
          <p:nvPr/>
        </p:nvSpPr>
        <p:spPr>
          <a:xfrm>
            <a:off x="6300216" y="1463040"/>
            <a:ext cx="640080" cy="640080"/>
          </a:xfrm>
          <a:prstGeom prst="ellipse">
            <a:avLst/>
          </a:prstGeom>
          <a:solidFill>
            <a:srgbClr val="E8590C"/>
          </a:solidFill>
          <a:ln/>
        </p:spPr>
      </p:sp>
      <p:pic>
        <p:nvPicPr>
          <p:cNvPr id="13" name="fin2_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36" y="1623060"/>
            <a:ext cx="320040" cy="320040"/>
          </a:xfrm>
          <a:prstGeom prst="rect">
            <a:avLst/>
          </a:prstGeom>
        </p:spPr>
      </p:pic>
      <p:sp>
        <p:nvSpPr>
          <p:cNvPr id="14" name="fin2_texto"/>
          <p:cNvSpPr txBox="1"/>
          <p:nvPr/>
        </p:nvSpPr>
        <p:spPr>
          <a:xfrm>
            <a:off x="6300216" y="22860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medida de confianza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ED4DA"/>
                </a:solidFill>
              </a:rPr>
              <a:t>Qué tan bien funciona en un sismo nuevo y qué tan estable es.</a:t>
            </a:r>
            <a:endParaRPr lang="en-US" sz="1700" dirty="0"/>
          </a:p>
        </p:txBody>
      </p:sp>
      <p:sp>
        <p:nvSpPr>
          <p:cNvPr id="15" name="cierre_frase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F00"/>
                </a:solidFill>
              </a:rPr>
              <a:t>Pensado como apoyo para priorizar inspecciones post-sismo en Lima.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mo">
  <a:themeElements>
    <a:clrScheme name="Sismo">
      <a:dk1>
        <a:srgbClr val="1F2328"/>
      </a:dk1>
      <a:lt1>
        <a:srgbClr val="FFFFFF"/>
      </a:lt1>
      <a:dk2>
        <a:srgbClr val="2B2F36"/>
      </a:dk2>
      <a:lt2>
        <a:srgbClr val="F1F3F5"/>
      </a:lt2>
      <a:accent1>
        <a:srgbClr val="E8590C"/>
      </a:accent1>
      <a:accent2>
        <a:srgbClr val="F59F00"/>
      </a:accent2>
      <a:accent3>
        <a:srgbClr val="C92A2A"/>
      </a:accent3>
      <a:accent4>
        <a:srgbClr val="5C677D"/>
      </a:accent4>
      <a:accent5>
        <a:srgbClr val="2B8A3E"/>
      </a:accent5>
      <a:accent6>
        <a:srgbClr val="868E96"/>
      </a:accent6>
      <a:hlink>
        <a:srgbClr val="1C7ED6"/>
      </a:hlink>
      <a:folHlink>
        <a:srgbClr val="5C677D"/>
      </a:folHlink>
    </a:clrScheme>
    <a:fontScheme name="Sism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Exposición – Daño estructural post-sismo (xBD)</dc:title>
  <dc:subject>PptxGenJS Presentation</dc:subject>
  <dc:creator>TF_Grupo04</dc:creator>
  <cp:lastModifiedBy>TF_Grupo04</cp:lastModifiedBy>
  <cp:revision>1</cp:revision>
  <dcterms:created xsi:type="dcterms:W3CDTF">2026-10-28T02:23:02Z</dcterms:created>
  <dcterms:modified xsi:type="dcterms:W3CDTF">2026-10-28T02:23:02Z</dcterms:modified>
</cp:coreProperties>
</file>